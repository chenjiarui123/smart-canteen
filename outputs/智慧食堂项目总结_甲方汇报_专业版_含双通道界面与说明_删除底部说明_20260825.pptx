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fab78a4c54f88" /><Relationship Type="http://schemas.openxmlformats.org/officeDocument/2006/relationships/extended-properties" Target="/docProps/app.xml" Id="R19c9494490ef4b80" /><Relationship Type="http://schemas.openxmlformats.org/officeDocument/2006/relationships/officeDocument" Target="/ppt/presentation.xml" Id="R91da37ac50fe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c46791993845c6"/>
  </p:sldMasterIdLst>
  <p:notesMasterIdLst>
    <p:notesMasterId xmlns:r="http://schemas.openxmlformats.org/officeDocument/2006/relationships" r:id="Rb54c74a26159472b"/>
  </p:notesMasterIdLst>
  <p:sldIdLst>
    <p:sldId xmlns:r="http://schemas.openxmlformats.org/officeDocument/2006/relationships" id="256" r:id="Rfce1a7d691d34b44"/>
    <p:sldId xmlns:r="http://schemas.openxmlformats.org/officeDocument/2006/relationships" id="257" r:id="R12198082925949fe"/>
    <p:sldId xmlns:r="http://schemas.openxmlformats.org/officeDocument/2006/relationships" id="258" r:id="R539d5c0e2e1e4723"/>
    <p:sldId xmlns:r="http://schemas.openxmlformats.org/officeDocument/2006/relationships" id="259" r:id="Rb228787b342c4957"/>
    <p:sldId xmlns:r="http://schemas.openxmlformats.org/officeDocument/2006/relationships" id="260" r:id="R55d1127dc615407c"/>
    <p:sldId xmlns:r="http://schemas.openxmlformats.org/officeDocument/2006/relationships" id="261" r:id="R6c28e2695dd34e1d"/>
    <p:sldId xmlns:r="http://schemas.openxmlformats.org/officeDocument/2006/relationships" id="262" r:id="R1de5b5873adb4142"/>
    <p:sldId xmlns:r="http://schemas.openxmlformats.org/officeDocument/2006/relationships" id="263" r:id="R5c99f90ad1434507"/>
    <p:sldId xmlns:r="http://schemas.openxmlformats.org/officeDocument/2006/relationships" id="264" r:id="Rdccb14c378e343f8"/>
    <p:sldId xmlns:r="http://schemas.openxmlformats.org/officeDocument/2006/relationships" id="265" r:id="Rb02dd7138fd84966"/>
    <p:sldId xmlns:r="http://schemas.openxmlformats.org/officeDocument/2006/relationships" id="266" r:id="R03f3a63c5571472c"/>
    <p:sldId xmlns:r="http://schemas.openxmlformats.org/officeDocument/2006/relationships" id="267" r:id="Rcf1f56194bc94b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a75a33d844137" /><Relationship Type="http://schemas.openxmlformats.org/officeDocument/2006/relationships/slideMaster" Target="/ppt/slideMasters/slideMaster1.xml" Id="R9cc46791993845c6" /><Relationship Type="http://schemas.openxmlformats.org/officeDocument/2006/relationships/notesMaster" Target="/ppt/notesMasters/notesMaster1.xml" Id="Rb54c74a26159472b" /><Relationship Type="http://schemas.openxmlformats.org/officeDocument/2006/relationships/presProps" Target="/ppt/presProps.xml" Id="Ra8c272857dc14fcb" /><Relationship Type="http://schemas.openxmlformats.org/officeDocument/2006/relationships/tableStyles" Target="/ppt/tableStyles.xml" Id="Rebc7a9129de7413c" /><Relationship Type="http://schemas.openxmlformats.org/officeDocument/2006/relationships/slide" Target="/ppt/slides/slide1.xml" Id="Rfce1a7d691d34b44" /><Relationship Type="http://schemas.openxmlformats.org/officeDocument/2006/relationships/slide" Target="/ppt/slides/slide2.xml" Id="R12198082925949fe" /><Relationship Type="http://schemas.openxmlformats.org/officeDocument/2006/relationships/slide" Target="/ppt/slides/slide3.xml" Id="R539d5c0e2e1e4723" /><Relationship Type="http://schemas.openxmlformats.org/officeDocument/2006/relationships/slide" Target="/ppt/slides/slide4.xml" Id="Rb228787b342c4957" /><Relationship Type="http://schemas.openxmlformats.org/officeDocument/2006/relationships/slide" Target="/ppt/slides/slide5.xml" Id="R55d1127dc615407c" /><Relationship Type="http://schemas.openxmlformats.org/officeDocument/2006/relationships/slide" Target="/ppt/slides/slide6.xml" Id="R6c28e2695dd34e1d" /><Relationship Type="http://schemas.openxmlformats.org/officeDocument/2006/relationships/slide" Target="/ppt/slides/slide7.xml" Id="R1de5b5873adb4142" /><Relationship Type="http://schemas.openxmlformats.org/officeDocument/2006/relationships/slide" Target="/ppt/slides/slide8.xml" Id="R5c99f90ad1434507" /><Relationship Type="http://schemas.openxmlformats.org/officeDocument/2006/relationships/slide" Target="/ppt/slides/slide9.xml" Id="Rdccb14c378e343f8" /><Relationship Type="http://schemas.openxmlformats.org/officeDocument/2006/relationships/slide" Target="/ppt/slides/slide10.xml" Id="Rb02dd7138fd84966" /><Relationship Type="http://schemas.openxmlformats.org/officeDocument/2006/relationships/slide" Target="/ppt/slides/slide11.xml" Id="R03f3a63c5571472c" /><Relationship Type="http://schemas.openxmlformats.org/officeDocument/2006/relationships/slide" Target="/ppt/slides/slide12.xml" Id="Rcf1f56194bc94b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ebe9ce1d0a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17d4479d254754" /><Relationship Type="http://schemas.openxmlformats.org/officeDocument/2006/relationships/notesMaster" Target="/ppt/notesMasters/notesMaster1.xml" Id="R2904668e568249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d223afc94e4381" /><Relationship Type="http://schemas.openxmlformats.org/officeDocument/2006/relationships/notesMaster" Target="/ppt/notesMasters/notesMaster1.xml" Id="Re70ebe3cbfa0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52ce1cd2204a87" /><Relationship Type="http://schemas.openxmlformats.org/officeDocument/2006/relationships/notesMaster" Target="/ppt/notesMasters/notesMaster1.xml" Id="R68ecf221130b45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2cc48650fc440b" /><Relationship Type="http://schemas.openxmlformats.org/officeDocument/2006/relationships/notesMaster" Target="/ppt/notesMasters/notesMaster1.xml" Id="R485656b5053c44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4cdbd42ad4e3f" /><Relationship Type="http://schemas.openxmlformats.org/officeDocument/2006/relationships/notesMaster" Target="/ppt/notesMasters/notesMaster1.xml" Id="Rbd486973fbcf4b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ccdbb8afcb46ab" /><Relationship Type="http://schemas.openxmlformats.org/officeDocument/2006/relationships/notesMaster" Target="/ppt/notesMasters/notesMaster1.xml" Id="Rd47d2678857e4b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39550f4e2d4f9c" /><Relationship Type="http://schemas.openxmlformats.org/officeDocument/2006/relationships/notesMaster" Target="/ppt/notesMasters/notesMaster1.xml" Id="Rbeec457e728643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3e7d30353641da" /><Relationship Type="http://schemas.openxmlformats.org/officeDocument/2006/relationships/notesMaster" Target="/ppt/notesMasters/notesMaster1.xml" Id="Rbfe662a13f1541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36cc413164c70" /><Relationship Type="http://schemas.openxmlformats.org/officeDocument/2006/relationships/notesMaster" Target="/ppt/notesMasters/notesMaster1.xml" Id="R5f5d0848c38a48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e0e99ff70441af" /><Relationship Type="http://schemas.openxmlformats.org/officeDocument/2006/relationships/notesMaster" Target="/ppt/notesMasters/notesMaster1.xml" Id="R2b378702820346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ba357282874918" /><Relationship Type="http://schemas.openxmlformats.org/officeDocument/2006/relationships/notesMaster" Target="/ppt/notesMasters/notesMaster1.xml" Id="R7845918c16a249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f8201a09a6445a" /><Relationship Type="http://schemas.openxmlformats.org/officeDocument/2006/relationships/notesMaster" Target="/ppt/notesMasters/notesMaster1.xml" Id="R20099736652946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  <a:p xmlns:a="http://schemas.openxmlformats.org/drawingml/2006/main">
            <a:r>
              <a:t>- 用户提供界面截图：常用菜品推荐（2026-08-25）</a:t>
            </a:r>
          </a:p>
          <a:p xmlns:a="http://schemas.openxmlformats.org/drawingml/2006/main">
            <a:r>
              <a:t>- 用户提供界面截图：低频高销量潜力菜（2026-08-25）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19c20385440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cea5aedeb4bc4" /><Relationship Type="http://schemas.openxmlformats.org/officeDocument/2006/relationships/slideLayout" Target="/ppt/slideLayouts/slideLayout1.xml" Id="R529e03afa78548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e03afa78548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bd32d7bf24b5e" /><Relationship Type="http://schemas.openxmlformats.org/officeDocument/2006/relationships/notesSlide" Target="/ppt/notesSlides/notesSlide1.xml" Id="R1d236a8c72bf41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38b2fa1cf40e0" /><Relationship Type="http://schemas.openxmlformats.org/officeDocument/2006/relationships/notesSlide" Target="/ppt/notesSlides/notesSlide2.xml" Id="Ra68b4533151a41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674aac8484862" /><Relationship Type="http://schemas.openxmlformats.org/officeDocument/2006/relationships/image" Target="/ppt/media/image.png" Id="R21c4f2f773c5447e" /><Relationship Type="http://schemas.openxmlformats.org/officeDocument/2006/relationships/notesSlide" Target="/ppt/notesSlides/notesSlide3.xml" Id="Rf3cedbcd8c3a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6ef88bd7048ee" /><Relationship Type="http://schemas.openxmlformats.org/officeDocument/2006/relationships/notesSlide" Target="/ppt/notesSlides/notesSlide4.xml" Id="Rc8c2cb11aa324a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9d61114bd44d4" /><Relationship Type="http://schemas.openxmlformats.org/officeDocument/2006/relationships/image" Target="/ppt/media/image2.png" Id="R66b89d1dc95b4da0" /><Relationship Type="http://schemas.openxmlformats.org/officeDocument/2006/relationships/notesSlide" Target="/ppt/notesSlides/notesSlide5.xml" Id="R8b4caee1e7204d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779efef184573" /><Relationship Type="http://schemas.openxmlformats.org/officeDocument/2006/relationships/notesSlide" Target="/ppt/notesSlides/notesSlide6.xml" Id="R2965a0a2223547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4354abdce45b4" /><Relationship Type="http://schemas.openxmlformats.org/officeDocument/2006/relationships/image" Target="/ppt/media/image3.png" Id="R0269edcecb934d29" /><Relationship Type="http://schemas.openxmlformats.org/officeDocument/2006/relationships/image" Target="/ppt/media/image4.png" Id="R3f6e757f8da546e6" /><Relationship Type="http://schemas.openxmlformats.org/officeDocument/2006/relationships/notesSlide" Target="/ppt/notesSlides/notesSlide7.xml" Id="R3f19e70a142449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877585a71441f" /><Relationship Type="http://schemas.openxmlformats.org/officeDocument/2006/relationships/notesSlide" Target="/ppt/notesSlides/notesSlide8.xml" Id="R8cbc50a454954c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a79f924d5416c" /><Relationship Type="http://schemas.openxmlformats.org/officeDocument/2006/relationships/notesSlide" Target="/ppt/notesSlides/notesSlide9.xml" Id="R73fdc2a0e75145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418be571d4a72" /><Relationship Type="http://schemas.openxmlformats.org/officeDocument/2006/relationships/notesSlide" Target="/ppt/notesSlides/notesSlide10.xml" Id="R79b82156b31e43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2d58de753423e" /><Relationship Type="http://schemas.openxmlformats.org/officeDocument/2006/relationships/notesSlide" Target="/ppt/notesSlides/notesSlide11.xml" Id="R8472ae81907c4b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0de9206a946b3" /><Relationship Type="http://schemas.openxmlformats.org/officeDocument/2006/relationships/notesSlide" Target="/ppt/notesSlides/notesSlide12.xml" Id="Rfc5d480e44cd49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智慧食堂智能菜单推荐系统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项目阶段建设成果汇报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基于历史经营数据形成可解释、可配置的菜单与备餐建议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核心功能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建设完成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项目建设已形成完整的功能与数据闭环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系统定位为智慧食堂经营管理的数字化辅助决策工具。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完成数据整合、菜单与销量预测、推荐说明、结果保存和数据更新等核心功能。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阶段成效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整餐需求预测保持相对稳定，推荐菜单与历史实际菜单具有较高一致性，搭配要求均得到满足。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兼顾整餐需求、菜品选择、搭配结构和场景差异，支持经营人员复核与调整。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项目定位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系统已具备从数据读取、需求分析、菜单生成、人工确认到结果保存的完整业务流程，可为日常菜单制定与备餐决策提供参考。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项目建设内容与已交付成果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菜单推荐、潜力菜展示、搭配校核、结果导出和数据更新。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4f2f773c5447e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数据更新模块：支持销售、天气与校历文件的预览、校验和确认写入。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系统在后台完成数据计算，前端集中呈现场景输入、菜单生成、结果确认与校核保存流程。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场景输入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食堂、日期、餐次、天气与假期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历史分析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调用目标日期之前的销售记录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常规菜单与潜力菜品同步生成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选择结果持续保留并支持调整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校核保存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校核数量、结构与备餐总量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应用原则：系统提供数据分析与菜单建议，经营人员结合实际情况完成最终确认。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菜单推荐页面已实现完整操作闭环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常规菜与潜力菜分栏展示，支持更新候选范围，并持续保留已选菜品。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89d1dc95b4da0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条件筛选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支持按菜品类别与预计销量区间筛选候选菜品。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已选菜品统一进入选择区，后续筛选与刷新不影响已选结果。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结果校核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确认前统一校核菜品数量、备餐总量与菜单搭配，并保存推荐结果。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核心推荐方法：需求预测、菜品选择与数量分配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围绕整餐需求、菜品组合和单菜备餐量，形成分层预测与推荐机制。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整餐需求预测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综合近期销售、长期历史、星期规律、假期和天气等信息，并通过上下限控制避免多项因素重复放大或缩小。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菜品组合推荐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综合历史供应频率、销售表现、稳定性和近期重复情况，并结合菜品属性校核菜单结构。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单菜数量分配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将整餐需求分配到入选菜品，保证单菜预测量合计与整餐预测量保持一致，并提示最低制作量。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推荐过程可解释、规则可配置、结果可追溯，为菜单制定和备餐管理提供数据参考。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双通道推荐兼顾供应稳定性与菜单丰富度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9edcecb934d29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552450" y="1504950"/>
            <a:ext cx="5238750" cy="3143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e757f8da546e6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6286500" y="1504950"/>
            <a:ext cx="5353050" cy="3143250"/>
          </a:xfrm>
          <a:prstGeom xmlns:a="http://schemas.openxmlformats.org/drawingml/2006/main" prst="rect">
            <a:avLst/>
          </a:prstGeom>
        </p:spPr>
      </p:pic>
      <p:sp>
        <p:nvSpPr>
          <p:cNvPr id="21" name="常规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519989D1-D008-40F3-8DF2-8CC75A0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常规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F9E1716E-5B17-4A6F-BE17-447BDEC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3" name="常规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C5A260BE-F230-4FD7-A848-D5414DF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常规菜品推荐</a:t>
            </a:r>
          </a:p>
        </p:txBody>
      </p:sp>
      <p:sp>
        <p:nvSpPr>
          <p:cNvPr id="24" name="常规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B053BCAA-6884-4433-AFC0-4156C8E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延续原有稳定策略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以历史常见、近期活跃菜为主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给出预计销量和推荐理由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适合形成日常菜单主体</a:t>
            </a:r>
          </a:p>
        </p:txBody>
      </p:sp>
      <p:sp>
        <p:nvSpPr>
          <p:cNvPr id="25" name="潜力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138F9BD6-5B4F-41CB-B3A4-1096F51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3530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潜力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5A20E9F6-275B-486B-A3EB-901D999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7" name="潜力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710F2E24-A9D8-4B2A-9337-7063A31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492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潜力菜品推荐</a:t>
            </a:r>
          </a:p>
        </p:txBody>
      </p:sp>
      <p:sp>
        <p:nvSpPr>
          <p:cNvPr id="28" name="潜力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9A50CEEA-DC1B-4C73-AE63-60024D2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4972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识别低频但单次销售表现较好的菜品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支持按类别配置候选数量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采用动态刷新方式增加候选多样性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近期入选后适当调整推荐优先级</a:t>
            </a:r>
          </a:p>
        </p:txBody>
      </p:sp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经营场景适配与菜单结构控制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普通工作日、周末、调休、寒暑假和法定节假日分别建模；气温、降水、湿度和风速用于补充修正，并控制多项因素叠加幅度。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结合历史同类日期与当餐预计需求，同步调整单菜销量和建议菜品数量，使节假日供给规模更贴近实际客流。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基础搭配要求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控制重复菜名、明显相似菜和核心食材高度重合情况，并确保建议菜品数量符合菜单容量。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弹性搭配管理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对做法、口味、食材类别和近期重复情况进行评分与提示，在保证菜单完整性的同时兼顾多样性。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阶段评估结果：整餐需求预测保持稳定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两组数据的评价周期不同，以下结果分别反映各自测试期内的运行表现。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50.65%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B58C-C543-4173-B699-F31C8F0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F2E7-DFDA-4D37-8D98-E841DE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265D9-A613-4A1E-BD24-1DE23B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69.11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A5B2-6604-4732-8DB2-64A1006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5B3C6-4AD9-4A68-9A9B-6E9D0CA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菜品命中率 60.43%　|　菜单搭配要求均满足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10.21%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56.88%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CC13-221E-470A-9485-662E71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6A44-677B-4F21-AE9E-FD54CB2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9415C-ADD7-440B-8004-CF2CB5E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152.11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B9012-60AB-4EB2-85C5-78B3EE0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F4FCB-B62C-43B9-9088-CD51A4D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菜品命中率 62.42%　|　菜单搭配要求均满足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主要评估指标说明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整餐总量 MAPE：衡量每餐总体备餐需求的预测偏差，当前约为 10%—14%。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命中菜品 MAPE：衡量命中菜品备餐量的平均相对偏差，当前约为 51%—57%，体现单菜销量波动特征。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经营效益指标：基于历史营收与过度预测金额计算，用于方案间相对比较。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现阶段建设成效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系统已形成可运行、可维护、可解释的应用基础。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本地化数据管理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业务数据在本地环境存储与运行，便于统一管理和安全控制。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推荐依据透明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推荐结果同步展示历史表现、日期场景和天气等主要依据。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业务规则可配置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菜品类别、相似关系、数量和搭配要求可结合业务实际调整。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全过程留痕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推荐、确认和数据更新过程均保留记录，便于查询与复盘。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稳定性与多样性兼顾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常规菜品保障供应稳定，潜力菜品补充菜单选择。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多平台运行支持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系统可在 macOS、Windows 和 Linux 环境部署运行。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系统应用说明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现有结果可为菜单制定和备餐管理提供参考，应用时需结合食堂现场情况进行综合判断。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单菜销量波动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低频菜与波动较大菜品的预测结果，适合作为备餐量参考区间。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系统已区分日常、周末、校历假期和法定节假日等场景。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菜单稳定与丰富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常规菜保障供应稳定，潜力菜提供补充选择和菜单变化。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特殊客流场景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长假与法定节假日重叠等少量场景，需结合实际客流判断。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新菜与新食堂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缺少历史记录时，系统主要依据菜品属性与经营人员确认结果。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经营效益指标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当前指标采用统一成本假设，用于不同推荐方案的相对比较。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项目阶段总结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数据基础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多源数据整合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完成 A／湖畔、F／基础园两套销售、天气、校历及菜品库数据整合。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系统能力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业务流程闭环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形成菜单与销量预测、潜力菜补充、菜单校核、结果保存和数据更新功能。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经营辅助决策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支持经营人员结合历史规律、天气和日历场景制定菜单与备餐计划。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阶段成果概述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项目已完成核心功能建设，形成可运行、可维护、可解释的智慧食堂菜单推荐应用。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汇报完毕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2026-08-25T10:29:49.6910000Z</dcterms:created>
  <dcterms:modified xsi:type="dcterms:W3CDTF">2026-08-25T10:29:49.6910000Z</dcterms:modified>
</coreProperties>
</file>