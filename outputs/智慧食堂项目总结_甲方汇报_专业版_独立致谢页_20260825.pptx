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a29c493b774d42" /><Relationship Type="http://schemas.openxmlformats.org/officeDocument/2006/relationships/extended-properties" Target="/docProps/app.xml" Id="R4411151c66c340c5" /><Relationship Type="http://schemas.openxmlformats.org/officeDocument/2006/relationships/officeDocument" Target="/ppt/presentation.xml" Id="Re3e43ee9eac14b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86aeea2c64fc4"/>
  </p:sldMasterIdLst>
  <p:notesMasterIdLst>
    <p:notesMasterId xmlns:r="http://schemas.openxmlformats.org/officeDocument/2006/relationships" r:id="R5ecfb9d9db764d7d"/>
  </p:notesMasterIdLst>
  <p:sldIdLst>
    <p:sldId xmlns:r="http://schemas.openxmlformats.org/officeDocument/2006/relationships" id="256" r:id="R0968ed682c424c1f"/>
    <p:sldId xmlns:r="http://schemas.openxmlformats.org/officeDocument/2006/relationships" id="257" r:id="Rd88e40b119424185"/>
    <p:sldId xmlns:r="http://schemas.openxmlformats.org/officeDocument/2006/relationships" id="258" r:id="Rd25e20b5621442bd"/>
    <p:sldId xmlns:r="http://schemas.openxmlformats.org/officeDocument/2006/relationships" id="259" r:id="R24852a05f0494571"/>
    <p:sldId xmlns:r="http://schemas.openxmlformats.org/officeDocument/2006/relationships" id="260" r:id="Raae0789db6774472"/>
    <p:sldId xmlns:r="http://schemas.openxmlformats.org/officeDocument/2006/relationships" id="261" r:id="R19e557dd30934896"/>
    <p:sldId xmlns:r="http://schemas.openxmlformats.org/officeDocument/2006/relationships" id="262" r:id="R78d81214ead24d11"/>
    <p:sldId xmlns:r="http://schemas.openxmlformats.org/officeDocument/2006/relationships" id="263" r:id="R40c74251f291483e"/>
    <p:sldId xmlns:r="http://schemas.openxmlformats.org/officeDocument/2006/relationships" id="264" r:id="R700992a298f24894"/>
    <p:sldId xmlns:r="http://schemas.openxmlformats.org/officeDocument/2006/relationships" id="265" r:id="R61c80d6bd1f54bca"/>
    <p:sldId xmlns:r="http://schemas.openxmlformats.org/officeDocument/2006/relationships" id="266" r:id="Re5b4da75a25c4c9a"/>
    <p:sldId xmlns:r="http://schemas.openxmlformats.org/officeDocument/2006/relationships" id="267" r:id="R81eb4cc6743d4b70"/>
    <p:sldId xmlns:r="http://schemas.openxmlformats.org/officeDocument/2006/relationships" id="268" r:id="Rd4f9fe837c1c43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9a9a575c549ce" /><Relationship Type="http://schemas.openxmlformats.org/officeDocument/2006/relationships/slideMaster" Target="/ppt/slideMasters/slideMaster1.xml" Id="Rb2186aeea2c64fc4" /><Relationship Type="http://schemas.openxmlformats.org/officeDocument/2006/relationships/notesMaster" Target="/ppt/notesMasters/notesMaster1.xml" Id="R5ecfb9d9db764d7d" /><Relationship Type="http://schemas.openxmlformats.org/officeDocument/2006/relationships/presProps" Target="/ppt/presProps.xml" Id="Ra1438c19501241a8" /><Relationship Type="http://schemas.openxmlformats.org/officeDocument/2006/relationships/tableStyles" Target="/ppt/tableStyles.xml" Id="R54bb4a8551194366" /><Relationship Type="http://schemas.openxmlformats.org/officeDocument/2006/relationships/slide" Target="/ppt/slides/slide1.xml" Id="R0968ed682c424c1f" /><Relationship Type="http://schemas.openxmlformats.org/officeDocument/2006/relationships/slide" Target="/ppt/slides/slide2.xml" Id="Rd88e40b119424185" /><Relationship Type="http://schemas.openxmlformats.org/officeDocument/2006/relationships/slide" Target="/ppt/slides/slide3.xml" Id="Rd25e20b5621442bd" /><Relationship Type="http://schemas.openxmlformats.org/officeDocument/2006/relationships/slide" Target="/ppt/slides/slide4.xml" Id="R24852a05f0494571" /><Relationship Type="http://schemas.openxmlformats.org/officeDocument/2006/relationships/slide" Target="/ppt/slides/slide5.xml" Id="Raae0789db6774472" /><Relationship Type="http://schemas.openxmlformats.org/officeDocument/2006/relationships/slide" Target="/ppt/slides/slide6.xml" Id="R19e557dd30934896" /><Relationship Type="http://schemas.openxmlformats.org/officeDocument/2006/relationships/slide" Target="/ppt/slides/slide7.xml" Id="R78d81214ead24d11" /><Relationship Type="http://schemas.openxmlformats.org/officeDocument/2006/relationships/slide" Target="/ppt/slides/slide8.xml" Id="R40c74251f291483e" /><Relationship Type="http://schemas.openxmlformats.org/officeDocument/2006/relationships/slide" Target="/ppt/slides/slide9.xml" Id="R700992a298f24894" /><Relationship Type="http://schemas.openxmlformats.org/officeDocument/2006/relationships/slide" Target="/ppt/slides/slide10.xml" Id="R61c80d6bd1f54bca" /><Relationship Type="http://schemas.openxmlformats.org/officeDocument/2006/relationships/slide" Target="/ppt/slides/slide11.xml" Id="Re5b4da75a25c4c9a" /><Relationship Type="http://schemas.openxmlformats.org/officeDocument/2006/relationships/slide" Target="/ppt/slides/slide12.xml" Id="R81eb4cc6743d4b70" /><Relationship Type="http://schemas.openxmlformats.org/officeDocument/2006/relationships/slide" Target="/ppt/slides/slide13.xml" Id="Rd4f9fe837c1c43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61ec329c9147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2722f206494736" /><Relationship Type="http://schemas.openxmlformats.org/officeDocument/2006/relationships/notesMaster" Target="/ppt/notesMasters/notesMaster1.xml" Id="R41b04c24bd3b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e398e8d822419b" /><Relationship Type="http://schemas.openxmlformats.org/officeDocument/2006/relationships/notesMaster" Target="/ppt/notesMasters/notesMaster1.xml" Id="R022d1c2152694d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7e62ab336a401e" /><Relationship Type="http://schemas.openxmlformats.org/officeDocument/2006/relationships/notesMaster" Target="/ppt/notesMasters/notesMaster1.xml" Id="R8b0bcada66184b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650ff5372d46ad" /><Relationship Type="http://schemas.openxmlformats.org/officeDocument/2006/relationships/notesMaster" Target="/ppt/notesMasters/notesMaster1.xml" Id="Rb537977cfb5540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fea3066e074604" /><Relationship Type="http://schemas.openxmlformats.org/officeDocument/2006/relationships/notesMaster" Target="/ppt/notesMasters/notesMaster1.xml" Id="R008a08f3993f49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2df949a4ac4c9a" /><Relationship Type="http://schemas.openxmlformats.org/officeDocument/2006/relationships/notesMaster" Target="/ppt/notesMasters/notesMaster1.xml" Id="Rb3a8d86f4fa04d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c902c3e0c541fb" /><Relationship Type="http://schemas.openxmlformats.org/officeDocument/2006/relationships/notesMaster" Target="/ppt/notesMasters/notesMaster1.xml" Id="R94452b35dcd9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34bdc8edeb4b47" /><Relationship Type="http://schemas.openxmlformats.org/officeDocument/2006/relationships/notesMaster" Target="/ppt/notesMasters/notesMaster1.xml" Id="R94b81ef49a0246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84215b35be4d4e" /><Relationship Type="http://schemas.openxmlformats.org/officeDocument/2006/relationships/notesMaster" Target="/ppt/notesMasters/notesMaster1.xml" Id="Rf8d85908b23648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f1ea61dd5e4852" /><Relationship Type="http://schemas.openxmlformats.org/officeDocument/2006/relationships/notesMaster" Target="/ppt/notesMasters/notesMaster1.xml" Id="R0bbbbe878e654b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2015889f83432f" /><Relationship Type="http://schemas.openxmlformats.org/officeDocument/2006/relationships/notesMaster" Target="/ppt/notesMasters/notesMaster1.xml" Id="R15318203083443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0964c0c2394586" /><Relationship Type="http://schemas.openxmlformats.org/officeDocument/2006/relationships/notesMaster" Target="/ppt/notesMasters/notesMaster1.xml" Id="Rd147508c22ec46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e1b6f9fe074d3a" /><Relationship Type="http://schemas.openxmlformats.org/officeDocument/2006/relationships/notesMaster" Target="/ppt/notesMasters/notesMaster1.xml" Id="R00c21759584240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smart_canteen_web/README.md（当前功能说明，访问于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项目阶段报告（本次汇报整理，2026-08-25）</a:t>
            </a:r>
          </a:p>
          <a:p xmlns:a="http://schemas.openxmlformats.org/drawingml/2006/main">
            <a:r>
              <a:t>- A/湖畔与 F/基础园锁定回测结果文件（项目内部）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smart_canteen_web/README.md（网页与数据更新功能，访问于 2026-08-25）</a:t>
            </a:r>
          </a:p>
          <a:p xmlns:a="http://schemas.openxmlformats.org/drawingml/2006/main">
            <a:r>
              <a:t>- data/a_hupan/sales.csv 与 data/f_jichuyuan/sales.csv（数据规模统计，访问于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smart_canteen_web/README.md（操作流程，访问于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 当前页面截图（本地运行，2026-08-25）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archive/expanding_window_v1_trial27_20260716 与当前高频策略配置（项目内部）</a:t>
            </a:r>
          </a:p>
          <a:p xmlns:a="http://schemas.openxmlformats.org/drawingml/2006/main">
            <a:r>
              <a:t>- smart_canteen_web/backend/app/services（当前推荐流程，访问于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smart_canteen_web/README.md（双通道推荐与选择区逻辑，访问于 2026-08-25）</a:t>
            </a:r>
          </a:p>
          <a:p xmlns:a="http://schemas.openxmlformats.org/drawingml/2006/main">
            <a:r>
              <a:t>- 用户提供界面截图：常用菜品推荐（2026-08-25）</a:t>
            </a:r>
          </a:p>
          <a:p xmlns:a="http://schemas.openxmlformats.org/drawingml/2006/main">
            <a:r>
              <a:t>- 用户提供界面截图：低频高销量潜力菜（2026-08-25）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当前策略配置与 smart_canteen_web/README.md（天气、日历及约束逻辑，访问于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trial18_train_validation_test_summary.csv（A/湖畔锁定测试结果）</a:t>
            </a:r>
          </a:p>
          <a:p xmlns:a="http://schemas.openxmlformats.org/drawingml/2006/main">
            <a:r>
              <a:t>- runs/f_to_jichuyuan_test/f_to_jichuyuan_test_metrics.json（F/基础园测试结果）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 与当前项目目录结构（访问于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A/湖畔与 F/基础园测试分段结果、重复率与假期菜单数量诊断（项目内部）</a:t>
            </a:r>
          </a:p>
          <a:p xmlns:a="http://schemas.openxmlformats.org/drawingml/2006/main">
            <a:r>
              <a:t>- 项目阶段报告第九章（局限性说明）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36be11bb64d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d2cb96faaf45c6" /><Relationship Type="http://schemas.openxmlformats.org/officeDocument/2006/relationships/slideLayout" Target="/ppt/slideLayouts/slideLayout1.xml" Id="R554bc0b5a864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4bc0b5a864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0157e43944ff1" /><Relationship Type="http://schemas.openxmlformats.org/officeDocument/2006/relationships/notesSlide" Target="/ppt/notesSlides/notesSlide1.xml" Id="R2201534a0a974f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ab95ffe7b40da" /><Relationship Type="http://schemas.openxmlformats.org/officeDocument/2006/relationships/notesSlide" Target="/ppt/notesSlides/notesSlide2.xml" Id="Rd90ced5f27b144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8e5bc08a84b25" /><Relationship Type="http://schemas.openxmlformats.org/officeDocument/2006/relationships/image" Target="/ppt/media/image.png" Id="Rc72cabf52d5f4e0b" /><Relationship Type="http://schemas.openxmlformats.org/officeDocument/2006/relationships/notesSlide" Target="/ppt/notesSlides/notesSlide3.xml" Id="R3c3d3173003149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3e0a1a74e44fb" /><Relationship Type="http://schemas.openxmlformats.org/officeDocument/2006/relationships/notesSlide" Target="/ppt/notesSlides/notesSlide4.xml" Id="R5c2177bea8724f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607a8ca0848c4" /><Relationship Type="http://schemas.openxmlformats.org/officeDocument/2006/relationships/image" Target="/ppt/media/image2.png" Id="R0fe60b3ed2c045fd" /><Relationship Type="http://schemas.openxmlformats.org/officeDocument/2006/relationships/notesSlide" Target="/ppt/notesSlides/notesSlide5.xml" Id="Rbbfa25c88a6d49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273eced964e30" /><Relationship Type="http://schemas.openxmlformats.org/officeDocument/2006/relationships/notesSlide" Target="/ppt/notesSlides/notesSlide6.xml" Id="R89e8f8730cba49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771390a994176" /><Relationship Type="http://schemas.openxmlformats.org/officeDocument/2006/relationships/image" Target="/ppt/media/image3.png" Id="R6d44d312b5c24d93" /><Relationship Type="http://schemas.openxmlformats.org/officeDocument/2006/relationships/image" Target="/ppt/media/image4.png" Id="R369118ec26eb4244" /><Relationship Type="http://schemas.openxmlformats.org/officeDocument/2006/relationships/notesSlide" Target="/ppt/notesSlides/notesSlide7.xml" Id="Ra3076568b51c4d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5b4b4bb214e0a" /><Relationship Type="http://schemas.openxmlformats.org/officeDocument/2006/relationships/notesSlide" Target="/ppt/notesSlides/notesSlide8.xml" Id="R26e808a662594b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240e768474350" /><Relationship Type="http://schemas.openxmlformats.org/officeDocument/2006/relationships/notesSlide" Target="/ppt/notesSlides/notesSlide9.xml" Id="R637e35fd92f841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461d4574f4f56" /><Relationship Type="http://schemas.openxmlformats.org/officeDocument/2006/relationships/notesSlide" Target="/ppt/notesSlides/notesSlide10.xml" Id="R0357341cd9164f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5537b4c25446c" /><Relationship Type="http://schemas.openxmlformats.org/officeDocument/2006/relationships/notesSlide" Target="/ppt/notesSlides/notesSlide11.xml" Id="Rc0d54a4d0ac046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320ef011b40bf" /><Relationship Type="http://schemas.openxmlformats.org/officeDocument/2006/relationships/notesSlide" Target="/ppt/notesSlides/notesSlide12.xml" Id="R7a3991b3873044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b9a4898564028" /><Relationship Type="http://schemas.openxmlformats.org/officeDocument/2006/relationships/notesSlide" Target="/ppt/notesSlides/notesSlide13.xml" Id="R6879a8a4e6d646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F7E3-E427-4BD1-BF75-985C0AC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14BB-507F-4491-AE13-5A69D32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智慧食堂智能菜单推荐系统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CB9-6783-41E5-BE68-16B7BA0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CFE3F2"/>
                </a:solidFill>
              </a:defRPr>
            </a:pPr>
            <a:r>
              <a:rPr sz="2025" b="0">
                <a:solidFill>
                  <a:srgbClr val="CFE3F2"/>
                </a:solidFill>
              </a:rPr>
              <a:t>项目阶段建设成果汇报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BFA7-3EFA-4A93-93C5-E604613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CC3-7B10-4944-A36A-6DB9F17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基于历史经营数据形成可解释、可配置的菜单与备餐建议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EDAA-ACC8-489C-9633-DE2E9B1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52F-FBA1-4693-B845-4AB916F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DA34-FCF3-4F6A-80DD-6DCF911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66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核心功能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建设完成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91CF-D9AE-43CF-BF59-F3DB1C9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385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可按日期、餐次、天气和假期生成建议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推荐理由、备餐量和搭配提示可查看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数据可在本地更新，过程可追溯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22E8-E3EE-4B5A-A90B-004325D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FC7D7"/>
                </a:solidFill>
              </a:defRPr>
            </a:pPr>
            <a:r>
              <a:rPr sz="975" b="0">
                <a:solidFill>
                  <a:srgbClr val="AFC7D7"/>
                </a:solidFill>
              </a:rPr>
              <a:t>汇报日期：2026 年 8 月</a:t>
            </a:r>
          </a:p>
        </p:txBody>
      </p:sp>
    </p:spTree>
    <p:extLst>
      <p:ext uri="{BB962C8B-B14F-4D97-AF65-F5344CB8AC3E}">
        <p14:creationId xmlns:p14="http://schemas.microsoft.com/office/powerpoint/2010/main" val="448673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490-BF54-4496-B8F3-A414C7D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785B-A525-419E-9DFA-B3E0F10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项目建设已形成完整的功能与数据闭环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C1FF-8286-4A40-A001-00FEBCB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系统定位为智慧食堂经营管理的数字化辅助决策工具。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2066-022E-4950-AF25-6D83E61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093A-709E-4BE5-B6BE-918D163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7593-F6EB-4E4E-AEC8-C53EC40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416A-7AE5-4CEA-98F8-822228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6473-87AA-491A-A2C8-482EA6E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完成数据整合、菜单与销量预测、推荐说明、结果保存和数据更新等核心功能。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86AA-BA4D-48F2-8290-A29EAF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DC0F-9926-4172-8059-C49E671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A30-DA1B-4552-BF1E-79097CC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阶段成效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0C35-E1EA-4948-9E31-B2C4E5F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整餐需求预测保持相对稳定，推荐菜单与历史实际菜单具有较高一致性，搭配要求均得到满足。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7419-53C8-47BB-A8FD-8FCE13E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AF42-71BD-441C-99AD-9098198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5C83-79FF-4DD1-B13F-52F4153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应用特点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029AD-4FB3-425C-BAAD-4D0E6D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兼顾整餐需求、菜品选择、搭配结构和场景差异，支持经营人员复核与调整。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8DDD-9E08-49F4-99ED-6994AD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0775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1F06-C1FA-4342-81BC-6A3A35D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B94D"/>
                </a:solidFill>
              </a:defRPr>
            </a:pPr>
            <a:r>
              <a:rPr sz="1500" b="1">
                <a:solidFill>
                  <a:srgbClr val="EAB94D"/>
                </a:solidFill>
              </a:rPr>
              <a:t>项目定位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45CD-D480-4171-B055-AD0AD8F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系统已具备从数据读取、需求分析、菜单生成、人工确认到结果保存的完整业务流程，可为日常菜单制定与备餐决策提供参考。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5E7D-839A-4E10-870F-762B9AF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349B5-37BB-40B4-BB99-F14B6F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089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49F9-49B3-4160-8EC3-9450B8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EAE8-2A41-4F0E-BD3F-FB8D24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项目建设内容与已交付成果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1E9F-A16D-4733-8769-B04A94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两套历史数据独立管理，共用一套网页操作方式。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18A-6D1E-4B0A-995E-CB7C12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DDFC-C24B-4FA9-8365-47FFAE8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B25A-E6A3-4A49-B24B-3674ADC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8430-1A70-4485-819A-427D387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A／湖畔数据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8B8-EE49-4CFD-AF40-E268DEE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9.2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2025-07-21 至 2026-06-10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0CA7-842E-48A3-AB41-45CD591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10BB-4EC6-42B0-A7E0-43086D1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B194F-4567-4CDD-AA53-053C9C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F／基础园数据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38E2-F87A-4031-A836-8AD5BD9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11.9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2025-01-01 至 2026-06-10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4F10-C0A7-48FD-8F3D-8CC6B8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E4D2-F693-42A3-A02E-F807B3E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5AA6-CBE9-46E1-BDA0-781200C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2140-0BAF-4792-8BED-1A8FA9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菜单推荐、潜力菜展示、搭配校核、结果导出和数据更新。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0D82-D804-44AF-B149-63B6B7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74104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cabf52d5f4e0b"/>
          <a:stretch xmlns:a="http://schemas.openxmlformats.org/drawingml/2006/main"/>
        </p:blipFill>
        <p:spPr>
          <a:xfrm xmlns:a="http://schemas.openxmlformats.org/drawingml/2006/main">
            <a:off x="4995973" y="1733550"/>
            <a:ext cx="583860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7D7-2468-4BD4-993F-433D6B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7080"/>
                </a:solidFill>
              </a:defRPr>
            </a:pPr>
            <a:r>
              <a:rPr sz="975" b="0">
                <a:solidFill>
                  <a:srgbClr val="5D7080"/>
                </a:solidFill>
              </a:rPr>
              <a:t>数据更新模块：支持销售、天气与校历文件的预览、校验和确认写入。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FC3D-6CC5-4698-A6F7-20DEDF2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27503-8A78-4F33-B49F-C2527EE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545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86E9C-2A47-4F40-8F55-CD1903C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27CE-300F-4564-B4A8-D3ECEFB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D7D4-2387-43EA-B30B-240A22C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系统在后台完成数据计算，前端集中呈现场景输入、菜单生成、结果确认与校核保存流程。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3527-38B5-45FB-8C18-4A2BB9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AD70-7205-4E00-8C56-CC831A72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3F27-A3D6-4E0D-A22E-EDE0770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9246-FD06-4E5A-BD31-BB75740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B2C-07A9-40C3-ABBF-1E881C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场景输入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42D0-6817-4896-9035-A0D836A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食堂、日期、餐次、天气与假期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CDFF-FF1C-46C8-B8FA-7E05314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045-46F6-46BC-B1C7-60FF7B3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61E5-DDE9-4602-AAB2-2A9FE51D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C9F-1A04-4D30-BB0C-98D646F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DAE-96E6-45AD-8DDF-F161822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历史分析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5FC-AD85-4366-9CD2-681191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调用目标日期之前的销售记录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6DA57-C6BC-4C70-966D-599C271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3128D-B3CB-42D9-8ACB-D9590B1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ADF53-9ADF-4E70-B039-25E73B2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F2BA-3D6B-4A72-B9F8-4062CD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02F7-CCFB-4A85-BF87-A8E3FB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4273-69AB-468D-AEEC-788488F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常规菜单与潜力菜品同步生成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AF4DC-843A-4FB5-928B-8DC9610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436BF-39E0-4B4B-887E-ADA170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2A6F3-3D88-4C12-8D89-C3BD85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F181F-8F0C-4FFB-81B4-83C81AF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8BA3-0F1E-416C-BC60-249801C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661D-F087-42E5-92B2-19A6FF1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选择结果持续保留并支持调整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9C6EB-07E5-4691-A324-7A649E8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C6BE1-1D05-4FEF-863A-9CC6F22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49389-E26A-49AE-8485-5DDECC4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0CE4C-E913-42D5-A5AD-63660C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B7F36-1C41-4598-9D03-32A2B68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校核保存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1A6C-D7AD-4BA9-A396-B545BA0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校核数量、结构与备餐总量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996-9FCF-4115-9831-B7DE432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839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E3F3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A4417-CB26-4C2A-BCFE-42D5FF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应用原则：系统提供数据分析与菜单建议，经营人员结合实际情况完成最终确认。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D2619-6629-415F-988E-162636D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3A97F-1FFD-47EA-978E-BF2783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17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96063-2F35-4657-BBC1-083DAC9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F82E-E500-4758-BFB0-834EB40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菜单推荐页面已实现完整操作闭环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E30D9-A470-4985-ABBB-9BE96C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常规菜与潜力菜分栏展示，支持更新候选范围，并持续保留已选菜品。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DC7-DB58-414A-918E-48EF8D7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4DC9-2E5C-414E-B0FD-D69905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74866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60b3ed2c045fd"/>
          <a:stretch xmlns:a="http://schemas.openxmlformats.org/drawingml/2006/main"/>
        </p:blipFill>
        <p:spPr>
          <a:xfrm xmlns:a="http://schemas.openxmlformats.org/drawingml/2006/main">
            <a:off x="1565763" y="1619250"/>
            <a:ext cx="5460023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12FB-79BF-42EF-9599-440A5E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C3433-46F7-4EC6-9849-9595A6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17D3-A810-4D9F-813F-29793B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条件筛选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D0EFB-7420-4477-B9D0-CBFCC30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支持按菜品类别与预计销量区间筛选候选菜品。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9B7E-74D1-4707-B425-668E5AD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6BAF-7CEC-47EE-820F-BA7A6D7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A824-03D5-487E-81F4-9337C6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选择管理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E2EA-CBD3-41B0-9499-A8A39C0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已选菜品统一进入选择区，后续筛选与刷新不影响已选结果。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2764-24D7-4120-854D-735F93C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993B-7750-4494-AC41-ADDC7DA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399F-5C2A-49C0-9B83-A1EF15D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结果校核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113-5856-4E1C-BBBE-F187147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确认前统一校核菜品数量、备餐总量与菜单搭配，并保存推荐结果。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546C-C961-428E-A035-AC8DFBE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0A6AA-2904-43AE-BA8E-2E29400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391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E4B7-24DF-46F0-A53A-627F108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653-B31B-4CFD-B5D6-D3058D5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核心推荐方法：需求预测、菜品选择与数量分配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7A81-66F6-460E-BC7B-ADB6493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围绕整餐需求、菜品组合和单菜备餐量，形成分层预测与推荐机制。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79A6-DEFA-43E3-8880-679D6ED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772E-5417-4E7B-B6F3-C44D6F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46520-568C-41A7-84DF-B1E354D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5A5-E99E-41AF-9FE3-15A766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① 整餐需求预测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DD6F-B82C-4348-BCC5-2A06BF9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综合近期销售、长期历史、星期规律、假期和天气等信息，并通过上下限控制避免多项因素重复放大或缩小。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A8E0-6C52-44CF-B4CA-3A61D33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B82F-0A84-4188-A62B-F463174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71F-BA64-4506-9F1D-3C3F8537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1AEE-AC0F-4E6E-B392-B62556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② 菜品组合推荐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5DAC-B9FA-4AA6-9923-4ACE144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综合历史供应频率、销售表现、稳定性和近期重复情况，并结合菜品属性校核菜单结构。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EA40-8D24-4063-9A9E-91E022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712A-453A-44FB-B752-8C29018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9BA80-CACD-4C3D-B67C-313B0A4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832-01FE-48F4-A9D5-0FFF21E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③ 单菜数量分配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E1092-BCDF-45F6-BD7C-E16391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将整餐需求分配到入选菜品，保证单菜预测量合计与整餐预测量保持一致，并提示最低制作量。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9F29-0FAC-4F65-B7BC-2F1C72A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C8DF-1021-4120-897C-FF200C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04A"/>
                </a:solidFill>
              </a:defRPr>
            </a:pPr>
            <a:r>
              <a:rPr sz="1575" b="1">
                <a:solidFill>
                  <a:srgbClr val="12304A"/>
                </a:solidFill>
              </a:rPr>
              <a:t>推荐过程可解释、规则可配置、结果可追溯，为菜单制定和备餐管理提供数据参考。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AFF6-19D0-48CA-8608-E5CF89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86E9-2D1A-4257-9FA4-0567D00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1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E306F-1C76-481D-A731-92A669C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31BF-53B0-44F6-AC77-1DD0F17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双通道推荐兼顾供应稳定性与菜单丰富度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4986-79D3-4108-B1D4-45AD08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高频菜负责稳定，低频潜力菜负责补充选择，两者分开生成、统一检查。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02ED-B772-4924-A451-614CE0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5E775-FA9D-48CD-A7D0-70FAC5B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9128-4675-4101-845B-907E9A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7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4d312b5c24d93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552450" y="1504950"/>
            <a:ext cx="5238750" cy="3143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118ec26eb4244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6286500" y="1504950"/>
            <a:ext cx="5353050" cy="3143250"/>
          </a:xfrm>
          <a:prstGeom xmlns:a="http://schemas.openxmlformats.org/drawingml/2006/main" prst="rect">
            <a:avLst/>
          </a:prstGeom>
        </p:spPr>
      </p:pic>
      <p:sp>
        <p:nvSpPr>
          <p:cNvPr id="21" name="常规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519989D1-D008-40F3-8DF2-8CC75A0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常规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F9E1716E-5B17-4A6F-BE17-447BDEC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3" name="常规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C5A260BE-F230-4FD7-A848-D5414DF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常规菜品推荐</a:t>
            </a:r>
          </a:p>
        </p:txBody>
      </p:sp>
      <p:sp>
        <p:nvSpPr>
          <p:cNvPr id="24" name="常规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B053BCAA-6884-4433-AFC0-4156C8E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延续原有稳定策略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以历史常见、近期活跃菜为主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给出预计销量和推荐理由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适合形成日常菜单主体</a:t>
            </a:r>
          </a:p>
        </p:txBody>
      </p:sp>
      <p:sp>
        <p:nvSpPr>
          <p:cNvPr id="25" name="潜力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138F9BD6-5B4F-41CB-B3A4-1096F51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3530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潜力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5A20E9F6-275B-486B-A3EB-901D9999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7" name="潜力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710F2E24-A9D8-4B2A-9337-7063A31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67275"/>
            <a:ext cx="492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潜力菜品推荐</a:t>
            </a:r>
          </a:p>
        </p:txBody>
      </p:sp>
      <p:sp>
        <p:nvSpPr>
          <p:cNvPr id="28" name="潜力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9A50CEEA-DC1B-4C73-AE63-60024D2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4972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识别低频但单次销售表现较好的菜品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支持按类别配置候选数量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采用动态刷新方式增加候选多样性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近期入选后适当调整推荐优先级</a:t>
            </a:r>
          </a:p>
        </p:txBody>
      </p:sp>
    </p:spTree>
    <p:extLst>
      <p:ext uri="{BB962C8B-B14F-4D97-AF65-F5344CB8AC3E}">
        <p14:creationId xmlns:p14="http://schemas.microsoft.com/office/powerpoint/2010/main" val="48484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8FACB-D861-4EE8-8508-E8DB065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1B43-443D-4D60-8166-30DB25F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经营场景适配与菜单结构控制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8490-C5D9-4BA8-95B0-076435B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目标日期的天气和日历信息可以直接输入；它们主要修正需求规模和菜单数量。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BBDF-8625-49C9-9982-B4D912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9EB-6DD4-4FE5-93E8-568E984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AD6-1E8A-4E2C-A782-CFA788A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2AD2-61D6-4278-8452-0291F5F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日期与天气适配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C09A5-7366-4C4B-B09A-486A79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10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普通工作日、周末、调休、寒暑假和法定节假日分别建模；气温、降水、湿度和风速用于补充修正，并控制多项因素叠加幅度。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1343F-22C2-4B65-BDE0-2BD57B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561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970E-5647-442C-92C7-DD5741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60-20C9-4CC9-A593-27DA34E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366B-7ED7-4E33-A98C-0C15533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6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结合历史同类日期与当餐预计需求，同步调整单菜销量和建议菜品数量，使节假日供给规模更贴近实际客流。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2ECC0-39BC-4D03-8140-83CE321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0673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6688-4A38-4A54-B469-EF14440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D4D"/>
          </a:solidFill>
          <a:ln xmlns:a="http://schemas.openxmlformats.org/drawingml/2006/main" w="9525">
            <a:solidFill>
              <a:srgbClr val="C7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34AC-2D42-49B4-9FDD-5B6AD9E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基础搭配要求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3E84-1B1C-436D-B9E8-57FC5D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10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控制重复菜名、明显相似菜和核心食材高度重合情况，并确保建议菜品数量符合菜单容量。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C2DC-1F98-426A-A477-F6BE0F4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19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5ED5-87ED-45EC-8897-C8D74C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E48FA-5534-464E-BE83-A6027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弹性搭配管理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7A09-8EFF-4A47-A26C-5BC6C4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对做法、口味、食材类别和近期重复情况进行评分与提示，在保证菜单完整性的同时兼顾多样性。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17AF-378E-48EE-96F6-519A93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35E0-0B37-4600-8522-0368255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214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F047F-FD27-47CD-9CBE-F08493A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19C8-A91B-481C-9C01-9477BBF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阶段评估结果：整餐需求预测保持稳定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E4F1-1706-453C-92DF-70613B2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两组数据的评价周期不同，以下结果分别反映各自测试期内的运行表现。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1CE5-3410-4D4F-A828-753FE9E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104E-7CF9-4F74-8D19-45DC8F0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A／湖畔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63F1-53F6-4B65-B599-DDBAB69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41FA-E2A9-493C-9D40-FDC461A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9DB3-8964-4CD2-8F32-43BCAE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13.70%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F6BE-B9AF-424E-A64E-EA46FF0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3BA0-3F5E-4AE7-B087-274649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7BAA-6530-4D01-80AB-02E9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BA4-E0A7-4404-948E-E858868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275-71FC-4CCF-B426-66C3E7D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50.65%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67DD-1149-4526-A6F9-DDE22E0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F447-80B5-4766-94FA-E4C99C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B58C-C543-4173-B699-F31C8F0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F2E7-DFDA-4D37-8D98-E841DE4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265D9-A613-4A1E-BD24-1DE23BA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69.11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A5B2-6604-4732-8DB2-64A1006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5B3C6-4AD9-4A68-9A9B-6E9D0CA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BE403-79B8-4BE5-8A2A-144DB0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测试期：2026-04-01 至 2026-06-10　|　菜品命中率 60.43%　|　菜单搭配要求均满足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095A-F17F-418A-A062-C92BE07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FACB-CC78-4B06-80D1-08E837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F／基础园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DBE87-F10E-4538-A803-D248CB3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9BC6-F18B-4A53-8CBB-EAA7377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66C0F-185B-400E-8F2F-FAA82F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10.21%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9097-3057-456C-9073-92B730A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5D575-8D97-4B08-AB54-6311071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E99B6-188A-4D84-BF69-ABADF6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82FC-B776-4B99-9F64-7CF282F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ED81-8E3E-46BE-BF76-3178B15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56.88%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0FEC-9564-4F84-B891-D6AA117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774F8-11CC-4EDB-B12B-2D2F23C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0CC13-221E-470A-9485-662E71FF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26A44-677B-4F21-AE9E-FD54CB2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9415C-ADD7-440B-8004-CF2CB5E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152.11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B9012-60AB-4EB2-85C5-78B3EE0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F4FCB-B62C-43B9-9088-CD51A4D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059B1-803C-42D6-997A-D6716C1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测试期：2026-01-01 至 2026-06-10　|　菜品命中率 62.42%　|　菜单搭配要求均满足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438F-31B5-49C6-B8C6-FEA976B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610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042D-89B4-4169-8C1E-9960591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主要评估指标说明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D2CD5-278A-49A6-B9AE-744DCBA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整餐总量 MAPE：衡量每餐总体备餐需求的预测偏差，当前约为 10%—14%。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命中菜品 MAPE：衡量命中菜品备餐量的平均相对偏差，当前约为 51%—57%，体现单菜销量波动特征。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经营效益指标：基于历史营收与过度预测金额计算，用于方案间相对比较。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D15A2-448E-4A32-B710-067E3B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6067C-85F7-49A6-9DDD-7DBA1AA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252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BB609-6865-4C27-B871-B2AFC36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7A1C-8AD8-4DDA-8DF7-C3A2979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现阶段建设成效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4BB4-F6D3-44F9-8C27-8EFE0D3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系统已形成可运行、可维护、可解释的应用基础。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26D4-12FF-456E-BC8B-D1F5222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A0BA-F600-415F-ABD2-A56758E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6B59-CDC6-493E-9DA9-548732D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D9D94-59D4-4F96-97B9-B67DBF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本地化数据管理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2C1B-CBD4-43ED-9DB9-93BAE7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业务数据在本地环境存储与运行，便于统一管理和安全控制。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B750-CA5A-4059-BF60-07DEC56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2869E-D05E-4243-9510-7BBD0C8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FD5C-07D7-47D7-9E88-C33522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推荐依据透明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D6A42-683E-4449-B386-E282D22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推荐结果同步展示历史表现、日期场景和天气等主要依据。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4611-241F-4291-BCAA-1B7FE62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B20D8-FD15-486F-BDA6-6C446A4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8375-9B1E-4AE2-AF43-AA9457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业务规则可配置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BEA6-7D6F-4AE9-BC44-1DA86A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菜品类别、相似关系、数量和搭配要求可结合业务实际调整。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117F-153E-4F35-898A-D21A3D9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4B6E6-5579-4544-86D1-4C9415B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98F5C-3B18-4276-9D85-7DA315D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全过程留痕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4FD8-EC6D-4F05-846F-AAF72E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推荐、确认和数据更新过程均保留记录，便于查询与复盘。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59071-5B49-4D3B-914A-1C86FCE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39A4-B60D-401E-97E9-92B1F1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1EFE-B420-4D1D-96FC-C362D06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稳定性与多样性兼顾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14E0-714B-4C70-A0E6-B19F68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常规菜品保障供应稳定，潜力菜品补充菜单选择。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5BE-C38F-4CF8-961C-F91976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1879E-0A71-4501-A1F0-C0C1561E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CF513-140C-4FB0-B5A1-C59D82C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多平台运行支持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66711-BAA9-4C22-A1C3-D63B37B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系统可在 macOS、Windows 和 Linux 环境部署运行。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C7AB-4E30-4449-913C-0B4B38A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34D7C-35EF-4461-9EC1-160319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255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CC4F0-9677-4459-97DE-806A9E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13FC-1C30-4E8F-BBFB-322E3FF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系统应用说明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1453-637B-426F-BE74-8237016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现有结果可为菜单制定和备餐管理提供参考，应用时需结合食堂现场情况进行综合判断。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C48-56E5-4B81-ADCA-E528A4A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3122-E244-492A-8F5F-9835564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1F04-F608-4B64-AB08-7B1D24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E5B3-DF15-4CA5-9DA2-F32A562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单菜销量波动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7601-631A-4CB7-9098-3762EC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62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低频菜与波动较大菜品的预测结果，适合作为备餐量参考区间。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FDA6-4297-4A9A-A5F5-48E0DFA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59D-EC1D-468A-BC2B-FC50B9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D19B-70CC-4BD6-8C81-803899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1925-5F37-4B97-A16B-668E0D7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05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系统已区分日常、周末、校历假期和法定节假日等场景。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DE39-783E-464F-8280-D2A331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E54C3-6187-4B49-9A74-026CE20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DF8B-5631-496B-B2E8-69F65FD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菜单稳定与丰富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474-49A0-45B6-89F0-ACF0AFE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常规菜保障供应稳定，潜力菜提供补充选择和菜单变化。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8B04-6EFA-4105-9DA2-C694F7B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1A4C-A62C-478E-95FF-A9D1EDE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F3A75-74CC-4D5B-BDF9-B15612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特殊客流场景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39090-C587-49A5-BC63-711E847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长假与法定节假日重叠等少量场景，需结合实际客流判断。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7D2E-7718-43C3-9E32-6BEF8AB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9374-A2DC-4B6A-8071-D94E20F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10A72-FA63-423A-A722-B7A2AF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新菜与新食堂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E53FE-C65E-49EE-B167-7CA02E5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缺少历史记录时，系统主要依据菜品属性与经营人员确认结果。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2CDE8-7081-47A6-B483-74FCAA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36D2-C7E1-4B68-B70C-F31FB8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6FE52-5C69-48EA-BDCA-F3C4FEA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经营效益指标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26794-18BA-4237-9791-2B74F84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当前指标采用统一成本假设，用于不同推荐方案的相对比较。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F383-86C8-4886-856B-B63146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747E-13B6-4838-B448-9CD7DE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904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2D5-5B36-49A0-B4BE-AEB5441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项目阶段总结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3997-B68A-4186-93A1-854D729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1DCAC-D1A6-431C-B5D2-C2DC065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数据基础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EC7B-BCCD-4345-BE73-F0AC32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多源数据整合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F7A0-310F-464A-9240-8B1779C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完成 A／湖畔、F／基础园两套销售、天气、校历及菜品库数据整合。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133F-A2B1-4D45-8379-8CDC757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B011-0AE7-4F1F-BFC0-830242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系统能力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93FC-CC8E-4633-918C-77696C8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业务流程闭环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98F1-7BBA-431E-B311-13A99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形成菜单与销量预测、潜力菜补充、菜单校核、结果保存和数据更新功能。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9D728-9FA1-494A-8546-C11C70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05EB1-A0A6-4D84-88A9-ACF0A61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CAF9-A03D-434E-B4E7-6095631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经营辅助决策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8C4F-6637-4499-968A-833F4C5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支持经营人员结合历史规律、天气和日历场景制定菜单与备餐计划。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4CDE9-4FE2-4F33-AFD8-F2BBF28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801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3508-2B8A-41CC-B399-1789A1C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阶段成果概述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7CF68-239F-4AA9-AC1D-C1B8850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项目已完成核心功能建设，形成可运行、可维护、可解释的智慧食堂菜单推荐应用。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12CB3-0C88-4827-B11B-95BCD14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2026-08-25T11:01:38.5870000Z</dcterms:created>
  <dcterms:modified xsi:type="dcterms:W3CDTF">2026-08-25T11:01:38.5870000Z</dcterms:modified>
</coreProperties>
</file>