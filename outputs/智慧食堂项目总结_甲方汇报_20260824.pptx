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b196d18c6b4cab" /><Relationship Type="http://schemas.openxmlformats.org/officeDocument/2006/relationships/extended-properties" Target="/docProps/app.xml" Id="R36a76c99bd2f42b9" /><Relationship Type="http://schemas.openxmlformats.org/officeDocument/2006/relationships/officeDocument" Target="/ppt/presentation.xml" Id="Rdc99eed6ee7b4d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b11d69846b4218"/>
  </p:sldMasterIdLst>
  <p:notesMasterIdLst>
    <p:notesMasterId xmlns:r="http://schemas.openxmlformats.org/officeDocument/2006/relationships" r:id="R210ac41324194e22"/>
  </p:notesMasterIdLst>
  <p:sldIdLst>
    <p:sldId xmlns:r="http://schemas.openxmlformats.org/officeDocument/2006/relationships" id="256" r:id="R22cfa19f43e648cd"/>
    <p:sldId xmlns:r="http://schemas.openxmlformats.org/officeDocument/2006/relationships" id="257" r:id="R3af72976aef14ceb"/>
    <p:sldId xmlns:r="http://schemas.openxmlformats.org/officeDocument/2006/relationships" id="258" r:id="Rdf0d44b632694b47"/>
    <p:sldId xmlns:r="http://schemas.openxmlformats.org/officeDocument/2006/relationships" id="259" r:id="Rafe185b8616c4d98"/>
    <p:sldId xmlns:r="http://schemas.openxmlformats.org/officeDocument/2006/relationships" id="260" r:id="Rcb281734dd2b47c1"/>
    <p:sldId xmlns:r="http://schemas.openxmlformats.org/officeDocument/2006/relationships" id="261" r:id="R295d81da6f644a11"/>
    <p:sldId xmlns:r="http://schemas.openxmlformats.org/officeDocument/2006/relationships" id="262" r:id="R55d876d5680d47b7"/>
    <p:sldId xmlns:r="http://schemas.openxmlformats.org/officeDocument/2006/relationships" id="263" r:id="Re971904981d84c64"/>
    <p:sldId xmlns:r="http://schemas.openxmlformats.org/officeDocument/2006/relationships" id="264" r:id="Rf64ceb90c2744bbc"/>
    <p:sldId xmlns:r="http://schemas.openxmlformats.org/officeDocument/2006/relationships" id="265" r:id="R9cd38ed76f3c4160"/>
    <p:sldId xmlns:r="http://schemas.openxmlformats.org/officeDocument/2006/relationships" id="266" r:id="R4721be94d09640b5"/>
    <p:sldId xmlns:r="http://schemas.openxmlformats.org/officeDocument/2006/relationships" id="267" r:id="R51c24ef57f1745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eda51bd4eb4528" /><Relationship Type="http://schemas.openxmlformats.org/officeDocument/2006/relationships/slideMaster" Target="/ppt/slideMasters/slideMaster1.xml" Id="Rcbb11d69846b4218" /><Relationship Type="http://schemas.openxmlformats.org/officeDocument/2006/relationships/notesMaster" Target="/ppt/notesMasters/notesMaster1.xml" Id="R210ac41324194e22" /><Relationship Type="http://schemas.openxmlformats.org/officeDocument/2006/relationships/presProps" Target="/ppt/presProps.xml" Id="R0b67900e46e74f60" /><Relationship Type="http://schemas.openxmlformats.org/officeDocument/2006/relationships/tableStyles" Target="/ppt/tableStyles.xml" Id="Rf64a85fee463450a" /><Relationship Type="http://schemas.openxmlformats.org/officeDocument/2006/relationships/slide" Target="/ppt/slides/slide1.xml" Id="R22cfa19f43e648cd" /><Relationship Type="http://schemas.openxmlformats.org/officeDocument/2006/relationships/slide" Target="/ppt/slides/slide2.xml" Id="R3af72976aef14ceb" /><Relationship Type="http://schemas.openxmlformats.org/officeDocument/2006/relationships/slide" Target="/ppt/slides/slide3.xml" Id="Rdf0d44b632694b47" /><Relationship Type="http://schemas.openxmlformats.org/officeDocument/2006/relationships/slide" Target="/ppt/slides/slide4.xml" Id="Rafe185b8616c4d98" /><Relationship Type="http://schemas.openxmlformats.org/officeDocument/2006/relationships/slide" Target="/ppt/slides/slide5.xml" Id="Rcb281734dd2b47c1" /><Relationship Type="http://schemas.openxmlformats.org/officeDocument/2006/relationships/slide" Target="/ppt/slides/slide6.xml" Id="R295d81da6f644a11" /><Relationship Type="http://schemas.openxmlformats.org/officeDocument/2006/relationships/slide" Target="/ppt/slides/slide7.xml" Id="R55d876d5680d47b7" /><Relationship Type="http://schemas.openxmlformats.org/officeDocument/2006/relationships/slide" Target="/ppt/slides/slide8.xml" Id="Re971904981d84c64" /><Relationship Type="http://schemas.openxmlformats.org/officeDocument/2006/relationships/slide" Target="/ppt/slides/slide9.xml" Id="Rf64ceb90c2744bbc" /><Relationship Type="http://schemas.openxmlformats.org/officeDocument/2006/relationships/slide" Target="/ppt/slides/slide10.xml" Id="R9cd38ed76f3c4160" /><Relationship Type="http://schemas.openxmlformats.org/officeDocument/2006/relationships/slide" Target="/ppt/slides/slide11.xml" Id="R4721be94d09640b5" /><Relationship Type="http://schemas.openxmlformats.org/officeDocument/2006/relationships/slide" Target="/ppt/slides/slide12.xml" Id="R51c24ef57f1745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f82e2ca39f41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7b01a92fd24971" /><Relationship Type="http://schemas.openxmlformats.org/officeDocument/2006/relationships/notesMaster" Target="/ppt/notesMasters/notesMaster1.xml" Id="Rf524bb9f22434c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7ff07ffed04097" /><Relationship Type="http://schemas.openxmlformats.org/officeDocument/2006/relationships/notesMaster" Target="/ppt/notesMasters/notesMaster1.xml" Id="R90c9df0174de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ab989fba14a32" /><Relationship Type="http://schemas.openxmlformats.org/officeDocument/2006/relationships/notesMaster" Target="/ppt/notesMasters/notesMaster1.xml" Id="R00c4a561f1d4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45630354f34a2d" /><Relationship Type="http://schemas.openxmlformats.org/officeDocument/2006/relationships/notesMaster" Target="/ppt/notesMasters/notesMaster1.xml" Id="Rbbdea10711da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175fad5fea49d2" /><Relationship Type="http://schemas.openxmlformats.org/officeDocument/2006/relationships/notesMaster" Target="/ppt/notesMasters/notesMaster1.xml" Id="Rffb3ce06f3ab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0c45f458a478f" /><Relationship Type="http://schemas.openxmlformats.org/officeDocument/2006/relationships/notesMaster" Target="/ppt/notesMasters/notesMaster1.xml" Id="R088eebc0a7ce4a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ec2ca73424891" /><Relationship Type="http://schemas.openxmlformats.org/officeDocument/2006/relationships/notesMaster" Target="/ppt/notesMasters/notesMaster1.xml" Id="Ra4fffbc835c84d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c71a0ebbdd4fdf" /><Relationship Type="http://schemas.openxmlformats.org/officeDocument/2006/relationships/notesMaster" Target="/ppt/notesMasters/notesMaster1.xml" Id="R0595d985b10e47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d0c07430f4917" /><Relationship Type="http://schemas.openxmlformats.org/officeDocument/2006/relationships/notesMaster" Target="/ppt/notesMasters/notesMaster1.xml" Id="R9ebeda29a6e746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2f2b8acd8340f9" /><Relationship Type="http://schemas.openxmlformats.org/officeDocument/2006/relationships/notesMaster" Target="/ppt/notesMasters/notesMaster1.xml" Id="Re28c3655c9f046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f8b9a2bd5d451e" /><Relationship Type="http://schemas.openxmlformats.org/officeDocument/2006/relationships/notesMaster" Target="/ppt/notesMasters/notesMaster1.xml" Id="Rbdde8bdc02ea4a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1a1ccd3fe04f38" /><Relationship Type="http://schemas.openxmlformats.org/officeDocument/2006/relationships/notesMaster" Target="/ppt/notesMasters/notesMaster1.xml" Id="R4e1e347d141d46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项目阶段报告第十章（下一阶段建议，2026-08-25）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e8564eaf7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898be4d5774e70" /><Relationship Type="http://schemas.openxmlformats.org/officeDocument/2006/relationships/slideLayout" Target="/ppt/slideLayouts/slideLayout1.xml" Id="R87113d452ea2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13d452ea2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2c8eed5d740a1" /><Relationship Type="http://schemas.openxmlformats.org/officeDocument/2006/relationships/notesSlide" Target="/ppt/notesSlides/notesSlide1.xml" Id="Raa21f5b979b2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2994e974c4bf9" /><Relationship Type="http://schemas.openxmlformats.org/officeDocument/2006/relationships/notesSlide" Target="/ppt/notesSlides/notesSlide2.xml" Id="Rc09fc5e599e84e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43dc72ba54327" /><Relationship Type="http://schemas.openxmlformats.org/officeDocument/2006/relationships/image" Target="/ppt/media/image.png" Id="R9e3475a2fd084a3e" /><Relationship Type="http://schemas.openxmlformats.org/officeDocument/2006/relationships/notesSlide" Target="/ppt/notesSlides/notesSlide3.xml" Id="R6dd415d74c0b45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c316a6b2f4b65" /><Relationship Type="http://schemas.openxmlformats.org/officeDocument/2006/relationships/notesSlide" Target="/ppt/notesSlides/notesSlide4.xml" Id="Rb925d658ce504b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af63b9a8642ea" /><Relationship Type="http://schemas.openxmlformats.org/officeDocument/2006/relationships/image" Target="/ppt/media/image2.png" Id="R384b312ebd444065" /><Relationship Type="http://schemas.openxmlformats.org/officeDocument/2006/relationships/notesSlide" Target="/ppt/notesSlides/notesSlide5.xml" Id="R3aa446f9463d41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887944876463f" /><Relationship Type="http://schemas.openxmlformats.org/officeDocument/2006/relationships/notesSlide" Target="/ppt/notesSlides/notesSlide6.xml" Id="R362121c8fb21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9c44c89ac4b0b" /><Relationship Type="http://schemas.openxmlformats.org/officeDocument/2006/relationships/notesSlide" Target="/ppt/notesSlides/notesSlide7.xml" Id="R56045afb089f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8c5631c2842fd" /><Relationship Type="http://schemas.openxmlformats.org/officeDocument/2006/relationships/notesSlide" Target="/ppt/notesSlides/notesSlide8.xml" Id="R42dbf91769fe49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a796b93ea4ec7" /><Relationship Type="http://schemas.openxmlformats.org/officeDocument/2006/relationships/notesSlide" Target="/ppt/notesSlides/notesSlide9.xml" Id="Rbac036014fa048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e9439a59d46ac" /><Relationship Type="http://schemas.openxmlformats.org/officeDocument/2006/relationships/notesSlide" Target="/ppt/notesSlides/notesSlide10.xml" Id="R25d47250e17441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2cfdf2ddd42ed" /><Relationship Type="http://schemas.openxmlformats.org/officeDocument/2006/relationships/notesSlide" Target="/ppt/notesSlides/notesSlide11.xml" Id="Ra53f000eb0b549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124176e0a4a3d" /><Relationship Type="http://schemas.openxmlformats.org/officeDocument/2006/relationships/notesSlide" Target="/ppt/notesSlides/notesSlide12.xml" Id="Rf3210702d40742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项目阶段总结与试点建议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让历史经营数据变成可解释、可调整的菜单建议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阶段结论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已具备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现场试点基础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先说结论：系统能用，但仍需要小范围试点校准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当前更适合作为经营人员的辅助工具，而不是完全替代人工排菜单。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已经完成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本地网页、菜单推荐、销量建议、推荐理由、数据更新和结果保存已形成闭环。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当前效果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每餐总量判断较稳定；推荐菜与真实菜单约有六成重合；硬性搭配冲突为 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主要短板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单道菜备餐量仍不够准；假期容易多推荐；高频菜重复较多；极端低客流日期仍会高估。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建议下一步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选定 1—2 个食堂进行 4—8 周试点：系统给建议，经营人员确认；同步记录真实备餐、售罄和剩余，再用真实成本修正策略。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目前已经交付了哪些能力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本地网页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菜单推荐、低频潜力菜、搭配检查、CSV 保存、数据追加更新。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475a2fd084a3e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数据更新页面：上传销售、天气和校历文件，预览确认后再写入。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一次菜单推荐是怎样完成的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把复杂计算隐藏在后台，用户只需要选择条件、查看建议、做最终确认。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食堂、日期、餐次、天气、假期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读取历史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只使用目标日期之前的销售记录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生成建议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高频主菜单 + 低频潜力菜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人工选择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放入选择区，刷新后不消失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检查并保存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核对数量、搭配和备餐总量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关键原则：系统给出建议和风险提示，最终菜单仍由食堂经营人员决定。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当前推荐页面已经支持“看、选、查、存”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高频菜与低频潜力菜分栏展示，用户可以反复刷新潜力菜，但已选择菜品会保留。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b312ebd444065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可筛选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按菜品类别和预计销量区间查看，减少一次显示过多菜品。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可保留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选中的菜进入选择区，刷新候选结果时不会消失。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可复核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确认前重新检查整份菜单的总菜数、备餐量、食材和做法搭配，并保存结果。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系统怎样得出菜单和备餐量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先估计这一餐大约需要多少，再判断推荐哪些菜，最后把总量分配到每道菜。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估计整餐需求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参考最近销售、全部历史、星期、近期变化、假期和天气。多种下降因素设有上下限，避免重复压低。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选择合适菜品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综合历史出现频率、销售表现、稳定性和最近是否重复，再检查食材、做法与相似菜冲突。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分配备餐量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把整餐需求分配给入选菜品，并保证各菜预测量之和与整餐预测量一致；低于最小制作量时给出提醒。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不是“模型直接拍菜单”，而是一套能查看原因、能调整规则、能回看结果的经营辅助流程。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双通道推荐：既保证日常供应，也增加菜单变化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D887C-A5FB-4900-91A5-72011841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4767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175D4-27E4-4460-B35A-22E9E143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844B1-8367-4711-B5F7-3089936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高频主菜单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11643-0284-4F2D-87F3-56063FF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19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D0C8E-908C-491F-BFA9-791FDAF7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04950"/>
            <a:ext cx="44767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9AA2B-C4AD-4076-B8BE-E721DD7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049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779E2-992A-474D-8202-447CB77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低频高销量潜力菜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8751B-F47C-4A75-A1B9-20E868A4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4019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单独策略文件，不改动高频模型</a:t>
            </a:r>
          </a:p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可按类别和数量刷新</a:t>
            </a:r>
          </a:p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半随机展示，减少每次固定</a:t>
            </a:r>
          </a:p>
          <a:p xmlns:a="http://schemas.openxmlformats.org/drawingml/2006/main">
            <a:pPr algn="l"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• 被多次选中后逐步降低权重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0544D-72B6-4E49-9127-37585D8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AB94D"/>
                </a:solidFill>
              </a:defRPr>
            </a:pPr>
            <a:r>
              <a:rPr sz="3600" b="1">
                <a:solidFill>
                  <a:srgbClr val="EAB94D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AF367-70A1-4A80-ADB4-81672BBF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723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C6463-3AC7-48D5-80F8-A2C6C7C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38750"/>
            <a:ext cx="661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选择区统一检查：菜品数量 · 总备餐量 · 搭配冲突 · 是否需要重新分配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天气、假期与菜单搭配怎样起作用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日期与天气修正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普通工作日、周末、调休、寒暑假和法定节假日分别处理；温度、降水、湿度和风速作为补充。多个因素同时出现时设置上下限，避免销量被连续压低。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假期菜单数量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不只降低每道菜的预计销量，也同步下调建议菜品数量；一部分参考历史同类日期，一部分参考整餐需求，避免假期仍推荐过多菜。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必须满足的规则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不重复菜名；明确相似菜不同时出现；高把握的同核心食材冲突不同时出现；不超过目标菜单容量。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优先提醒、必要时放宽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相同做法、相同口味、同食材大类、中等把握的相似判断和近期重复，先扣分或提示；菜单不足时按固定顺序放宽。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当前测试结果：整餐总量较稳，单菜预测仍需提升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两个食堂组的评价时间不同，因此更适合分别看表现，不宜直接比较净收益绝对金额。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命中菜单菜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净收益代理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非增量利润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硬约束违规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命中菜单菜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净收益代理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非增量利润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硬约束违规 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如何理解三项重点指标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MAPE：判断一餐总体备多少，当前约 10%—14% 的平均相对误差。</a:t>
            </a:r>
          </a:p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单菜 MAPE：判断命中菜各备多少，当前约 51%—57%，仍是主要短板。</a:t>
            </a:r>
          </a:p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净收益代理：推荐菜历史实际销售额减去一半过度预测额，仅用于内部比较，不代表利润增加。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当前方案的优势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这些能力已经具备稳定的工程基础，可直接进入试点验证。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数据不离开本地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前后端和 CSV 数据均可在本地运行，便于甲方掌控数据。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推荐原因可查看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每道菜都能说明参考了哪些历史、日期和天气信息。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规则可人工调整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菜品类别、相似菜、数量和搭配要求都能按业务修订。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过程可追溯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每次推荐、确认和数据更新均保存文件，便于复盘。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两类菜兼顾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高频菜保障稳定，低频潜力菜增加选择和变化。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跨平台部署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前端 Vue、后端 Python，可在 macOS、Windows 和 Linux 使用。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目前仍存在的不足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这些问题不会阻止试点，但会影响自动推荐的可信度，需要在真实运行中继续校准。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单道菜备餐量不够准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命中菜单菜预测误差仍约 51%—57%，低频菜、销量突变菜更难判断。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假期仍可能推荐偏多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与真实菜单相比，A/湖畔假期平均多约 5 道，F/基础园多约 11 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高频菜单重复较高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F/基础园相邻同餐次菜单重复率约 91.7%，稳定但变化不足。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极端低客流日容易高估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寒假叠加法定节假日、真实销量接近零时，历史规律会失效。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冷启动和新菜信息不足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新食堂、新菜、长期未供应菜缺少可靠历史，推荐依赖人工确认。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经营收益还不是实际利润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目前用 0.5 作为浪费成本比例，缺少真实成本、剩余和售罄数据。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智慧食堂菜单推荐系统 · 阶段汇报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下一阶段建议：用真实运营数据把系统从“能推荐”变成“更可信”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第 1—2 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准备试点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确认试点食堂、菜单容量、成本口径和人工审核人。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第 3—6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现场运行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每天保存系统建议、人工最终菜单、实际销量、售罄与剩余。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第 7—8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复盘调整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重点修正假期菜数、单菜备餐量、重复率和低频菜推荐。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需要甲方确认的三件事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① 试点食堂和周期　　② 菜品真实成本、剩余与售罄记录方式　　③ 哪些菜单规则必须硬性执行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4A00C-3FCE-4AF3-ADF4-D9DEFBB9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9E5"/>
                </a:solidFill>
              </a:defRPr>
            </a:pPr>
            <a:r>
              <a:rPr sz="1200" b="0">
                <a:solidFill>
                  <a:srgbClr val="C7D9E5"/>
                </a:solidFill>
              </a:rPr>
              <a:t>目标不是一次性追求“全自动”，而是通过可控试点，让建议逐步贴近实际经营。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2026-08-25T03:22:44.8780000Z</dcterms:created>
  <dcterms:modified xsi:type="dcterms:W3CDTF">2026-08-25T03:22:44.8780000Z</dcterms:modified>
</coreProperties>
</file>